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Пользователь маркетплейса не понимает объём материалов и бюджет — бросает корзину, звонит в поддержку.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три сценария используют общий движок: ML-разметка каталога + планировщик работ + формулы расхода.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Показываем: ГКЛВ, гидроизоляция с заведением на стены, плитка с подрезкой, IP44, вентилятор, тёплый пол, итог и пояснение.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Виджет встраивается в любую страницу (в т.ч. Bitrix) двумя строками. Сопутствующие товары — тот же вид работ.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Гибрид: логрегрессия точна на знакомых типах; zero-shot по справочнику и kNN по эмбеддингам переносят знание на новые; шлюз отсекает товары вне ремонта.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Таксономия по технологической последовательности. Правила R1–R7 и разбор неоднозначных товаров — в docs/taxonomy.md. Отправлено организаторам на согласование.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Случайное разбиение и новые товары — цель достигнута. Самый жёсткий протокол — незнакомые подтипы: модель не видела ни одного товара такого вида. Там zero-shot даёт основной прирост; дальше — LLM для неуверенных товаров.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Каждая позиция сметы показывает формулу. На 16 эталонных расчётах, сделанных вручную, MAE = 0 (tests/test_formulas.py).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Жёсткие ограничения помещения + мягкие предпочтения. При отсутствии подходящих товаров — предупреждение, а не тихая замена.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Синхронизация обходит дерево категорий, читает страницы до last_page, дочитывает полные карточки и размечает товары.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модели локальные. На сервере заказчика RTX 3090 отдаётся под LLM, эмбеддинги работают на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Метрики эффекта для пилота: конверсия карточки в корзину, средний чек, доля корзин «под задачу», нагрузка на поддержку.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SpbTechRun 2026 · кейс №1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RepairCalc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24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D2330"/>
                </a:solidFill>
              </a:rPr>
              <a:t>Микросервис умных калькуляторов ремонта: ML-подбор материалов под помещение и точный расчёт количества и стоимости по реальному каталогу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5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B7385"/>
                </a:solidFill>
              </a:rPr>
              <a:t>Команда «___» · капитан ___</a:t>
            </a:r>
          </a:p>
        </p:txBody>
      </p:sp>
      <p:pic>
        <p:nvPicPr>
          <p:cNvPr id="8" name="Picture 7" descr="1_ca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2520000"/>
            <a:ext cx="5400000" cy="3857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Боль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Проблема: покупатель не знает, сколько и что купить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2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Сколько упаковок плитки на стену 3,2 × 2,7? Какой клей и сколько затирки?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Что можно в санузел, а что нельзя: обычный ГКЛ или ГКЛВ, какая краска?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Итог — брошенные корзины, звонки менеджерам, низкая конверсия «под задачу»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Готовые калькуляторы статичны, не учитывают влажность и назначение комнаты,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не привязаны к каталогу и остаткам и не масштабируются на тысячи SKU без ручной настройки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Решение: три сценария на одном движке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296000"/>
            <a:ext cx="3600000" cy="2160000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1404000"/>
            <a:ext cx="331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8A4C"/>
                </a:solidFill>
              </a:rPr>
              <a:t>Смета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908000"/>
            <a:ext cx="3311999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Квартира / студия / дом,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косметический / капитальный 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дизайнерский ремонт,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помещения → товары, количество, итог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1296000"/>
            <a:ext cx="3600000" cy="2160000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6000" y="1404000"/>
            <a:ext cx="331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8A4C"/>
                </a:solidFill>
              </a:rPr>
              <a:t>Комната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1908000"/>
            <a:ext cx="3311999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Влажность, назначение, нагрузка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→ влагостойкие, моющиеся,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износостойкие материалы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+ пояснение «почему» (RAG)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3999" y="1296000"/>
            <a:ext cx="3600000" cy="2160000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7999" y="1404000"/>
            <a:ext cx="331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8A4C"/>
                </a:solidFill>
              </a:rPr>
              <a:t>Карточка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7999" y="1908000"/>
            <a:ext cx="3311999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/api/v1/product/{id}/calc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размеры стены → упаковки и цена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+ клей, затирка, грунт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одной кнопкой в корзину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396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F8A4C"/>
                </a:solidFill>
              </a:rPr>
              <a:t>В основе — ML, который сам относит тысячи товаров каталога к видам работ, классам материалов и помещениям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Сценарий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Демо: санузел 6 м²  капремонт → 106 121 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4</a:t>
            </a:r>
          </a:p>
        </p:txBody>
      </p:sp>
      <p:pic>
        <p:nvPicPr>
          <p:cNvPr id="6" name="Picture 5" descr="1_cal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188000"/>
            <a:ext cx="7056000" cy="50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0" y="1296000"/>
            <a:ext cx="414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D2330"/>
                </a:solidFill>
              </a:rPr>
              <a:t>•  30 позиций за 5 мс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D2330"/>
                </a:solidFill>
              </a:rPr>
              <a:t>•  Только влагостойкие материалы: ГКЛВ, плитка, IP44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D2330"/>
                </a:solidFill>
              </a:rPr>
              <a:t>•  Гидроизоляция пола + 30 см на стены, 2 слоя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D2330"/>
                </a:solidFill>
              </a:rPr>
              <a:t>•  Формула у каждой позиции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D2330"/>
                </a:solidFill>
              </a:rPr>
              <a:t>•  Альтернативы и пояснение «почему»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Сценарий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Расчёт прямо в карточке товара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5</a:t>
            </a:r>
          </a:p>
        </p:txBody>
      </p:sp>
      <p:pic>
        <p:nvPicPr>
          <p:cNvPr id="6" name="Picture 5" descr="2_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188000"/>
            <a:ext cx="5890909" cy="4860000"/>
          </a:xfrm>
          <a:prstGeom prst="rect">
            <a:avLst/>
          </a:prstGeom>
        </p:spPr>
      </p:pic>
      <p:pic>
        <p:nvPicPr>
          <p:cNvPr id="7" name="Picture 6" descr="4_wid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000" y="1188000"/>
            <a:ext cx="5040000" cy="36654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20000" y="4752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&lt;div data-repaircalc-product="ID"&gt;&lt;/div&gt;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&lt;script src="…/ui/widget.js"&gt;&lt;/script&gt;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Где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ML-матчинг «товар → виды работ»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224000"/>
          <a:ext cx="1116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000"/>
                <a:gridCol w="5040000"/>
              </a:tblGrid>
              <a:tr h="288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Компонент</a:t>
                      </a:r>
                    </a:p>
                  </a:txBody>
                  <a:tcPr>
                    <a:solidFill>
                      <a:srgbClr val="1F8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Что даёт</a:t>
                      </a:r>
                    </a:p>
                  </a:txBody>
                  <a:tcPr>
                    <a:solidFill>
                      <a:srgbClr val="1F8A4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TF-IDF слов и символов + логрегрессия OvR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точность на знакомых типах товаров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Эмбеддинги multilingual-e5 (локально)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смысл, а не буквальные совпадения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Zero-shot по справочнику: сходство с типовыми материалами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новые виды товаров без обучения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kNN по размеченным товарам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перенос разметки похожих товаров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Шлюз «относится к ремонту»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сад, быт, фасад → без меток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Пороги по каждому виду работ (out-of-fold)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баланс точности и полноты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Второй классификатор: класс материала (48 классов)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330"/>
                          </a:solidFill>
                        </a:rPr>
                        <a:t>выбор формулы расхода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0000" y="4031999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8A4C"/>
                </a:solidFill>
              </a:rPr>
              <a:t>Многометочная задача: 23% товаров относятся к нескольким видам работ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Таксономия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Справочник: 26 видов работ, 5 этапов, 7 правил разметки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2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Подготовка → черновые → инженерные системы → чистовая отделка → завершающие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Вид работ = законченная технологическая операция: «укладка плитки», «монтаж ГКЛ»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Товар → все работы, где он основной материал, расходник или специализированный инструмент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Неоднозначные: грунтовка (6 работ), монтажная пена, обои под покраску, полотенцесушитель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Вне охвата: кладка, фасад, сад, быт → пустой набор меток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Каждый вид работ связан с формулами калькулятора — разметка сразу работает в смете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Эталон: 1140 товаров, 124 подтипов; 248 — на двойную ручную проверку (каппа Коэна)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Качество: micro-F1 ≥ 0,8 и честная проверка обобщения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224000"/>
          <a:ext cx="1116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0"/>
                <a:gridCol w="1620000"/>
                <a:gridCol w="1620000"/>
                <a:gridCol w="1620000"/>
                <a:gridCol w="1620000"/>
              </a:tblGrid>
              <a:tr h="288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Протокол</a:t>
                      </a:r>
                    </a:p>
                  </a:txBody>
                  <a:tcPr>
                    <a:solidFill>
                      <a:srgbClr val="1F8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micro-F1</a:t>
                      </a:r>
                    </a:p>
                  </a:txBody>
                  <a:tcPr>
                    <a:solidFill>
                      <a:srgbClr val="1F8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1F8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nDCG@10</a:t>
                      </a:r>
                    </a:p>
                  </a:txBody>
                  <a:tcPr>
                    <a:solidFill>
                      <a:srgbClr val="1F8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вне ремонта</a:t>
                      </a:r>
                    </a:p>
                  </a:txBody>
                  <a:tcPr>
                    <a:solidFill>
                      <a:srgbClr val="1F8A4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5-fold по товарам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1,00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Новые товары (отдельная выгрузка)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0,99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0,98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1,00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1,00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Незнакомые подтипы товаров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baseline TF-IDF, незнакомые подтипы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0,52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0,40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0,52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330"/>
                          </a:solidFill>
                        </a:rPr>
                        <a:t>0,94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0000" y="3384000"/>
            <a:ext cx="111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B7385"/>
                </a:solidFill>
              </a:rPr>
              <a:t>Каталог синтетический, поэтому на знакомых типах цифры завышены — основной ориентир для нас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B7385"/>
                </a:solidFill>
              </a:rPr>
              <a:t>протокол «незнакомые подтипы»: гибрид против baseline даёт +16 п.п. micro-F1 и +30 п.п. nDCG@10. Всё воспроизводится: make eval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Формулы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Математическая модель расчёта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224000"/>
          <a:ext cx="1116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7920000"/>
              </a:tblGrid>
              <a:tr h="28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Материал</a:t>
                      </a:r>
                    </a:p>
                  </a:txBody>
                  <a:tcPr>
                    <a:solidFill>
                      <a:srgbClr val="1F8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Формула</a:t>
                      </a:r>
                    </a:p>
                  </a:txBody>
                  <a:tcPr>
                    <a:solidFill>
                      <a:srgbClr val="1F8A4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Плитка, ламинат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⌈S · (1 + запас) / S упаковки⌉; запас 10% / 15% диагональ / +5% при S &lt; 4 м²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Обои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полосы = ⌈L стен / ширина⌉; в рулоне = ⌊длина / (h + раппорт + 0,1)⌋; рулоны = ⌈полосы / в рулоне⌉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Краска, грунт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⌈S · расход л/м² · слои / объём банки⌉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Смеси (клей, штукатурка, стяжка, наливной пол)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⌈S · расход кг/м²·мм · толщина / вес мешка⌉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Гидроизоляция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(S пола + P · 0,3 м) · 1,2 кг/м² · 2 слоя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Линолеум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полосы по ширине рулона × (длина + 0,1 м)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Электрика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330"/>
                          </a:solidFill>
                        </a:rPr>
                        <a:t>кабель = точки · 7 м + 10 м; розетки по площади и назначению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0000" y="4068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8A4C"/>
                </a:solidFill>
              </a:rPr>
              <a:t>Расход берётся из характеристик карточки; если её нет — норма из базы знаний, с пометкой в смете. Учёт единицы продажи (упак., м², м, шт); деньги в Decimal; MAE на 16 эталонных расчётах =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Рекомендации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Подбор под помещение и ранжирование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2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D2330"/>
                </a:solidFill>
              </a:rPr>
              <a:t>•  Кандидаты: ML (или админка) отнёс товар к нужному виду работ и классу материала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D2330"/>
                </a:solidFill>
              </a:rPr>
              <a:t>•  Жёсткие ограничения: санузел → влагостойкие; балкон → морозостойкие; кухня, прихожая, детская → ламинат ≥ 33 класса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D2330"/>
                </a:solidFill>
              </a:rPr>
              <a:t>•  Ранжирование: 0,25·уверенность ML + 0,25·соответствие позиции + 0,15·популярность (recsys_rating)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D2330"/>
                </a:solidFill>
              </a:rPr>
              <a:t>•  + 0,05·рейтинг + 0,15·наличие в регионе + 0,15·ценовой сегмент под тип ремонта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D2330"/>
                </a:solidFill>
              </a:rPr>
              <a:t>•  Детская → бонус экологичным, кухня → моющимся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D2330"/>
                </a:solidFill>
              </a:rPr>
              <a:t>•  Оптимизация фасовки: среди близких по рангу — минимальная итоговая стоимость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D2330"/>
                </a:solidFill>
              </a:rPr>
              <a:t>•  Пояснение RAG: база норм и требований к помещениям + локальная LLM (без неё — шаблон)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Админка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Полный цикл: загрузка каталога → авторазметка → админка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11</a:t>
            </a:r>
          </a:p>
        </p:txBody>
      </p:sp>
      <p:pic>
        <p:nvPicPr>
          <p:cNvPr id="6" name="Picture 5" descr="3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188000"/>
            <a:ext cx="6804000" cy="48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40000" y="1296000"/>
            <a:ext cx="43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D2330"/>
                </a:solidFill>
              </a:rPr>
              <a:t>•  92.8% каталога размечено автоматически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D2330"/>
                </a:solidFill>
              </a:rPr>
              <a:t>•  155 новых товаров со стенда: загрузка и разметка ≈ 1 с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D2330"/>
                </a:solidFill>
              </a:rPr>
              <a:t>•  Новый товар → вид работ, класс, помещения, похожие товары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D2330"/>
                </a:solidFill>
              </a:rPr>
              <a:t>•  Ручная привязка важнее ML, откат в один клик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D2330"/>
                </a:solidFill>
              </a:rPr>
              <a:t>•  Фильтр «низкая уверенность» → очередь на проверку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Инфраструктура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Производительность и закрытый контур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296000"/>
            <a:ext cx="2700000" cy="1800000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1404000"/>
            <a:ext cx="24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8A4C"/>
                </a:solidFill>
              </a:rPr>
              <a:t>0.4 мс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908000"/>
            <a:ext cx="2412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ML-разметка товара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000" y="1296000"/>
            <a:ext cx="2700000" cy="1800000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0" y="1404000"/>
            <a:ext cx="24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8A4C"/>
                </a:solidFill>
              </a:rPr>
              <a:t>5 мс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1908000"/>
            <a:ext cx="2412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смета на санузел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(30 позиций)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2000" y="1296000"/>
            <a:ext cx="2700000" cy="1800000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5999" y="1404000"/>
            <a:ext cx="24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8A4C"/>
                </a:solidFill>
              </a:rPr>
              <a:t>15 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999" y="1908000"/>
            <a:ext cx="2412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обучение модели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на 1140 товарах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8000" y="1296000"/>
            <a:ext cx="2700000" cy="1800000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2000" y="1404000"/>
            <a:ext cx="24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8A4C"/>
                </a:solidFill>
              </a:rPr>
              <a:t>1 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2000" y="1908000"/>
            <a:ext cx="2412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старт сервиса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D2330"/>
                </a:solidFill>
              </a:rPr>
              <a:t>с разметкой каталога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3456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D2330"/>
                </a:solidFill>
              </a:rPr>
              <a:t>•  Эмбеддинги multilingual-e5-small (MIT), 470 МБ, работают на CPU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D2330"/>
                </a:solidFill>
              </a:rPr>
              <a:t>•  LLM: Ollama + Qwen2.5-7B/14B-Instruct (Apache-2.0) на RTX 3090; без LLM всё работает на правилах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D2330"/>
                </a:solidFill>
              </a:rPr>
              <a:t>•  Пиковая память при обучении и оценке ≈ 0.9 ГБ; Docker + docker-compose с GPU для Ollama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D2330"/>
                </a:solidFill>
              </a:rPr>
              <a:t>•  Лицензии проверены скриптом: GPL/AGPL нет (make licenses)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Бизнес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Ценность и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2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Рост конверсии и среднего чека: продажа «под задачу», сопутствующие товары одной кнопкой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Меньше ручной работы: авторазметка каталога, ручная — только для неуверенных товаров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Меньше звонков в поддержку: смета и пояснения прямо на сайте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Пилот: A/B на карточках плитки, ламината и обоев; метрики — CR в корзину, средний чек, время до корзины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Развитие: реальные данные заказов → обучаемые коэффициенты отходов; LLM для товаров с низкой уверенностью;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D2330"/>
                </a:solidFill>
              </a:rPr>
              <a:t>•  CV по плану квартиры; новые вертикали (сад, инструмент) = новый справочник + make train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7385"/>
                </a:solidFill>
              </a:rPr>
              <a:t>RepairCalc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D2330"/>
                </a:solidFill>
              </a:rPr>
              <a:t>Спасибо! Живое демо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0000" y="648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385"/>
                </a:solidFill>
              </a:rPr>
              <a:t>RepairCalc 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2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D2330"/>
                </a:solidFill>
              </a:rPr>
              <a:t>•  UI: /ui/  ·  Swagger: /docs  ·  метрики: вкладка «Качество ML»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D2330"/>
                </a:solidFill>
              </a:rPr>
              <a:t>•  Код, справочник, методика, эталон, отчёт метрик — в репозитории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D2330"/>
                </a:solidFill>
              </a:rPr>
              <a:t>•  make setup model data train eval test run — воспроизводится с нуля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