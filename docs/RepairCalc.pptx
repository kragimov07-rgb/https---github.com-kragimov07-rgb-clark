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Пользователь не понимает объём материалов и бюджет — бросает корзину, звонит в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три сценария используют общий движок: ML-разметка каталога + планировщик работ + формулы расхода.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Выгрузка организаторов + YML-фид из вики хакатона. Соединение по коду товара в URL оффера. Разметка на уровне категорий — как работала бы админка магазина.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Реальные товары Максидома: ГКЛВ, гидроизоляция с заведением на стены, плитка с подрезкой, IP44, вентилятор, тёплый пол, смесители, унитаз; формула у каждой позиции.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Виджет встраивается в любую страницу (в т.ч. Bitrix) двумя строками. Сопутствующие товары — того же вида работ, с выбором выгодной фасовки.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Гибрид: логрегрессия точна на знакомых категориях; zero-shot по справочнику и kNN по эмбеддингам переносят знание на новые; шлюз отсекает товары вне ремонта.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Таксономия по технологической последовательности. Правила R1–R7 и разбор неоднозначных товаров — docs/taxonomy.md, перенос на категории каталога — docs/real_data.md.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Основной сценарий — новые товары в известных категориях: 0,97. Самый жёсткий протокол — незнакомые категории: модель не видела ни одного товара категории; гибрид лучше baseline на всех метриках.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Слабые на незнакомых категориях — виды работ, которые в каталоге представлены 1–2 непохожими категориями. План: доразметка, LLM для товаров на границе порога, расширение справочника.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позиция показывает формулу. 16 эталонных расчётов вручную — MAE = 0 (tests/test_formulas.py). Расход берётся из карточки, если правдоподобен; иначе норма с пометкой.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Фильтр позиции по названию защищает от ошибок ML (мешки для пылесоса вместо строительных). Выбор с учётом итоговой стоимости позиции — мешок 20 кг вместо 14 банок по 1,5 кг.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Синхронизация обходит дерево категорий, читает страницы до last_page, дочитывает полные карточки и размечает товары.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модели локальные. На сервере заказчика RTX 3090 отдаётся под LLM, эмбеддинги работают на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Метрики эффекта для пилота: конверсия карточки в корзину, средний чек, доля корзин «под задачу», нагрузка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SpbTechRun 2026 · кейс №1 · Максидом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RepairCalc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93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D2330"/>
                </a:solidFill>
              </a:rPr>
              <a:t>Микросервис умных калькуляторов ремонта: ML-подбор материалов под помещение и точный расчёт количества и стоимости по реальному каталогу Максидома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558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B7385"/>
                </a:solidFill>
              </a:rPr>
              <a:t>Команда «___» · капитан ___</a:t>
            </a:r>
          </a:p>
        </p:txBody>
      </p:sp>
      <p:pic>
        <p:nvPicPr>
          <p:cNvPr id="8" name="Picture 7" descr="1_ca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0" y="2520000"/>
            <a:ext cx="5400000" cy="38571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Боль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Проблема: покупатель не знает, сколько и что купить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Сколько упаковок плитки на стену 3,2 × 2,7? Какой клей и сколько затирки?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Что можно в санузел, а что нельзя: обычный ГКЛ или ГКЛВ, какая краска, какие розетки?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Итог — брошенные корзины, звонки менеджерам, низкая конверсия «под задачу»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Готовые калькуляторы статичны: не учитывают влажность и назначение комнаты,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не привязаны к каталогу и остаткам и не масштабируются на десятки тысяч SKU без ручной настройки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Решение: три сценария на одном движке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96000"/>
            <a:ext cx="3600000" cy="216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404000"/>
            <a:ext cx="3311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Смета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1908000"/>
            <a:ext cx="3311999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Квартира / студия / дом,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косметический / капитальный /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дизайнерский ремонт,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помещения → товары, количество, итог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1296000"/>
            <a:ext cx="3600000" cy="216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6000" y="1404000"/>
            <a:ext cx="3311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Комната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1908000"/>
            <a:ext cx="3311999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Влажность, назначение, нагрузка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→ влагостойкие, моющиеся,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износостойкие материалы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+ пояснение «почему» (RAG)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3999" y="1296000"/>
            <a:ext cx="3600000" cy="216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7999" y="1404000"/>
            <a:ext cx="3311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Карточка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7999" y="1908000"/>
            <a:ext cx="3311999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/api/v1/product/{id}/calc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размеры стены → упаковки и цена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+ клей, затирка, грунт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одной кнопкой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396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8A4C"/>
                </a:solidFill>
              </a:rPr>
              <a:t>В основе — ML, который сам относит 86 129 товаров каталога к 26 видам работ, классам материалов и помещениям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Данные: реальный каталог Максидома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88 790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карточек из выгрузки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организаторов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56 555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присоединены к YML-фиду: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цена СПб, наличие, фото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5999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1 083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5999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ремонтные категории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размечены вручную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8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2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30 353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2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товаров относятся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к ремонту (≈ 35%)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3456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Дерево категорий восстановлено по фиду (2 360 из 2 375 категорий)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Характеристики без единиц: «Вес 5000» (г) и «Вес 5» (кг), «Расход 2,1-5,2», «Литраж .9», размеры в мм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→ нормализация: диапазоны, единицы по правдоподобию, отрицания «не влагостойкие», данные из названия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65% ассортимента — не ремонт (сад, посуда, мебель): модель должна не навязывать им виды работ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3 239 товаров относятся сразу к нескольким видам работ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Сценарий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Демо: санузел 6 м²  капремонт → 102 191 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5</a:t>
            </a:r>
          </a:p>
        </p:txBody>
      </p:sp>
      <p:pic>
        <p:nvPicPr>
          <p:cNvPr id="6" name="Picture 5" descr="1_ca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88000"/>
            <a:ext cx="7056000" cy="50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0" y="1296000"/>
            <a:ext cx="414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31 позиций за 64 мс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Реальные товары и цены СПб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Только влагостойкие материалы, IP44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Гидроизоляция + 30 см на стены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Формула у каждой позиции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Альтернативы и «почему»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Сценарий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Расчёт прямо в карточке товара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6</a:t>
            </a:r>
          </a:p>
        </p:txBody>
      </p:sp>
      <p:pic>
        <p:nvPicPr>
          <p:cNvPr id="6" name="Picture 5" descr="2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88000"/>
            <a:ext cx="6804000" cy="4860000"/>
          </a:xfrm>
          <a:prstGeom prst="rect">
            <a:avLst/>
          </a:prstGeom>
        </p:spPr>
      </p:pic>
      <p:pic>
        <p:nvPicPr>
          <p:cNvPr id="7" name="Picture 6" descr="4_wi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000" y="1188000"/>
            <a:ext cx="4320000" cy="3141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0000" y="4536000"/>
            <a:ext cx="43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385"/>
                </a:solidFill>
              </a:rPr>
              <a:t>&lt;div data-repaircalc-product="ID"&gt;&lt;/div&gt;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B7385"/>
                </a:solidFill>
              </a:rPr>
              <a:t>&lt;script src="…/ui/widget.js"&gt;&lt;/script&gt;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Где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ML-матчинг «товар → виды работ»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224000"/>
          <a:ext cx="1116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000"/>
                <a:gridCol w="4680000"/>
              </a:tblGrid>
              <a:tr h="28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Компонент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даёт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TF-IDF слов и символов + логрегрессия OvR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точность на знакомых категориях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Эмбеддинги multilingual-e5 (локально, MIT)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смысл, а не буквальные совпадения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Zero-shot: сходство с типовыми материалами каждого вида работ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новые категории без обучения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kNN по размеченным товарам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перенос разметки похожих товаров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Шлюз «относится к ремонту»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сад, посуда, мебель → без меток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Пороги по каждому виду работ (out-of-fold)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баланс точности и полноты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Второй классификатор: класс материала (48 классов)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выбор формулы расхода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4031999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8A4C"/>
                </a:solidFill>
              </a:rPr>
              <a:t>Админка: ручная привязка важнее ML; товары «на границе порога» — в очередь на проверку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Таксономия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Справочник: 26 видов работ, 5 этапов, 7 правил разметки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Подготовка → черновые → инженерные системы → чистовая отделка → завершающие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Вид работ = законченная технологическая операция: «укладка плитки», «монтаж ГКЛ»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Товар → все работы, где он основной материал, расходник или специализированный инструмент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Неоднозначные: грунтовка (6 работ), монтажная пена, обои под покраску, полотенцесушитель, дюбели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Вне охвата: кладка, фасад, кровля, сад, быт → пустой набор меток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Каждый вид работ связан с формулами калькулятора — разметка сразу работает в смете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Эталон: категория → виды работ + уточняющие правила по названию для смешанных категорий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Метрики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Качество на реальном каталоге: micro-F1 ≥ 0,8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224000"/>
          <a:ext cx="1116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0"/>
                <a:gridCol w="1440000"/>
                <a:gridCol w="1440000"/>
                <a:gridCol w="1440000"/>
                <a:gridCol w="1440000"/>
                <a:gridCol w="1440000"/>
              </a:tblGrid>
              <a:tr h="288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Протокол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micro-F1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nDCG@10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вне ремонта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multi-label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3-fold по товарам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Новые товары (отложенные 3%)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0,966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0,950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0,995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0,989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0,936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Незнакомые категории —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Незнакомые категории — baseline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0,723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0,510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0,753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0,963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30"/>
                          </a:solidFill>
                        </a:rPr>
                        <a:t>0,298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3384000"/>
            <a:ext cx="111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B7385"/>
                </a:solidFill>
              </a:rPr>
              <a:t>86 072 товаров, 26 видов работ. На незнакомых категориях гибрид vs baseline: micro-F1 +5.8 п.п., macro-F1 +11.5 п.п., nDCG@10 +8.1 п.п.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B7385"/>
                </a:solidFill>
              </a:rPr>
              <a:t>Всё воспроизводится: python -m eval.evaluate (отчёт reports/metrics_real.md)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Честно о качестве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Где модель сильна и где растём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224000"/>
          <a:ext cx="5400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0"/>
                <a:gridCol w="1440000"/>
              </a:tblGrid>
              <a:tr h="28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Сильные (F1, незнакомые категории)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Вентиляция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Установка электрофурнитуры и освещения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0,960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Укладка ламината и замковых покрытий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0,883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Сантехнические работы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0,878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Укладка линолеума и ковролина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0000" y="1224000"/>
          <a:ext cx="5760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2160000"/>
              </a:tblGrid>
              <a:tr h="28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Растём (F1, незнакомые категории)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по товарам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Демонтаж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0,022 / 0,911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Монтаж потолков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0,058 / 0,975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Монтаж гипсокартона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0,384 / 0,936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Устройство стяжки пола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0,391 / 0,902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Поклейка обоев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330"/>
                          </a:solidFill>
                        </a:rPr>
                        <a:t>0,406 / 0,991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0000" y="3456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На знакомых категориях все виды работ ≥ 0,89 F1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Очередь «на границе порога» в админке → локальная LLM / проверка человеком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Синтетический стенд с абляцией: без zero-shot компонента micro-F1 на новых подтипах падает с 0,676 до 0,575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Формулы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Математическая модель расчёта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224000"/>
          <a:ext cx="1116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7560000"/>
              </a:tblGrid>
              <a:tr h="28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Материал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Формула</a:t>
                      </a:r>
                    </a:p>
                  </a:txBody>
                  <a:tcPr>
                    <a:solidFill>
                      <a:srgbClr val="1F8A4C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Плитка, ламинат, SPC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⌈S · (1 + запас) / S упаковки⌉; запас 10% / 15% диагональ / +5% при S &lt; 4 м²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Обои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полосы = ⌈L стен / ширина⌉; в рулоне = ⌊длина / (h + раппорт + 0,1)⌋; рулоны = ⌈полосы / в рулоне⌉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Краска, грунт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⌈S · расход л/м² · слои / объём⌉; краска в кг — через плотность 1,4 кг/л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Смеси (клей, штукатурка, шпаклёвка, стяжка, наливной пол)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⌈S · расход кг/м²·мм · толщина / вес мешка⌉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Гидроизоляция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(S пола + P · 0,3 м) · расход · 2 слоя; «1200» в карточке → 1,2 кг/м²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Линолеум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полосы по ширине рулона × (длина + 0,1 м)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Электрика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D2330"/>
                          </a:solidFill>
                        </a:rPr>
                        <a:t>кабель = точки · 7 м + 10 м → бухты по «Метраж упаковки»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4068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8A4C"/>
                </a:solidFill>
              </a:rPr>
              <a:t>Учёт единицы продажи (уп., рул., кв.м, шт.); деньги в Decimal; цена — по фиду СПб; MAE на эталонных расчётах =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Рекомендации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Подбор под помещение и выгодная фасовка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Кандидаты: ML (или админка) отнёс товар к виду работ и классу материала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Фильтр позиции по названию: «смеситель для раковины», «плинтус», «подрозетник» — защита от ошибок 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Жёсткие ограничения: санузел → влагостойкие и IP44; балкон → цементные смеси; кухня, прихожая → ламинат ≥ 33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Ранжирование: уверенность ML, соответствие позиции, наличие в фиде, ценовой сегмент по цене за кг/л/м²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Выбор: качество − штраф за переплату → выгодная фасовка (мешок 20 кг, а не 14 банок по 1,5 кг)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D2330"/>
                </a:solidFill>
              </a:rPr>
              <a:t>•  Пояснение RAG: база норм и требований к помещениям + локальная LLM (без неё — шаблон)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Админка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Полный цикл: загрузка каталога → авторазметка → админка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13</a:t>
            </a:r>
          </a:p>
        </p:txBody>
      </p:sp>
      <p:pic>
        <p:nvPicPr>
          <p:cNvPr id="6" name="Picture 5" descr="3_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1188000"/>
            <a:ext cx="6804000" cy="486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40000" y="1296000"/>
            <a:ext cx="432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30 661 из 86 129 товаров ML отнёс к ремонту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500 новых товаров со стенда: загрузка и разметка ≈ 3 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Реальный товар, которого модель не видела → виды работ, класс, помещения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Ручная привязка важнее ML, откат в один клик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D2330"/>
                </a:solidFill>
              </a:rPr>
              <a:t>•  Очередь «на границе порога»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Инфраструктура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Производительность и закрытый контур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2 мс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ML-разметка товара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64 мс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смета на санузел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(31 позиций)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5999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7,5 мин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5999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обучение модели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на 86 тыс. товаров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8000" y="1296000"/>
            <a:ext cx="2700000" cy="18000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2000" y="1404000"/>
            <a:ext cx="241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F8A4C"/>
                </a:solidFill>
              </a:rPr>
              <a:t>11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2000" y="1908000"/>
            <a:ext cx="2412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старт сервиса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D2330"/>
                </a:solidFill>
              </a:rPr>
              <a:t>(кэш разметки)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3456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Эмбеддинги multilingual-e5-small (MIT), 470 МБ, CPU/MPS; LLM: Ollama + Qwen2.5 (Apache-2.0) на RTX 3090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Без LLM всё работает: разбор текста и пояснения — на правилах и шаблонах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Память сервиса ≈ 3 ГБ на весь каталог; пиковая при обучении ≈ 4 ГБ; Docker + docker-compose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D2330"/>
                </a:solidFill>
              </a:rPr>
              <a:t>•  Лицензии проверены скриптом: GPL/AGPL нет (make licenses)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Бизнес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Ценность и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Рост конверсии и среднего чека: продажа «под задачу», сопутствующие товары одной кнопкой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Меньше ручной работы: 2 375 категорий вместо 88 тыс. SKU; новые товары размечаются автоматически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Меньше звонков в поддержку: смета и пояснения прямо на сайте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Пилот: A/B на карточках плитки, ламината и обоев; метрики — CR в корзину, средний чек, время до корзины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Развитие: данные заказов → обучаемые коэффициенты отходов; LLM для товаров на границе порога;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D2330"/>
                </a:solidFill>
              </a:rPr>
              <a:t>•  CV по плану квартиры; новые вертикали (сад, инструмент) = новый справочник + make train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1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6B7385"/>
                </a:solidFill>
              </a:rPr>
              <a:t>RepairCalc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468000"/>
            <a:ext cx="108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D2330"/>
                </a:solidFill>
              </a:rPr>
              <a:t>Спасибо! Живое демо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60000" y="648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7385"/>
                </a:solidFill>
              </a:rPr>
              <a:t>RepairCalc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224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D2330"/>
                </a:solidFill>
              </a:rPr>
              <a:t>•  UI: /ui/  ·  Swagger: /docs  ·  метрики: вкладка «Качество ML»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D2330"/>
                </a:solidFill>
              </a:rPr>
              <a:t>•  Код, справочник, разметка категорий, методика, отчёты — в репозитории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D2330"/>
                </a:solidFill>
              </a:rPr>
              <a:t>•  make setup model real-data train run — воспроизводится с нуля</a:t>
            </a:r>
          </a:p>
        </p:txBody>
      </p:sp>
      <p:pic>
        <p:nvPicPr>
          <p:cNvPr id="7" name="Picture 6" descr="5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00" y="2340000"/>
            <a:ext cx="3779141" cy="39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